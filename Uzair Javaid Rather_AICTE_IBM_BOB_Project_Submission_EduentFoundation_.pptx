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90" r:id="rId2"/>
    <p:sldId id="291" r:id="rId3"/>
    <p:sldId id="292" r:id="rId4"/>
    <p:sldId id="293" r:id="rId5"/>
    <p:sldId id="294" r:id="rId6"/>
    <p:sldId id="311" r:id="rId7"/>
    <p:sldId id="312" r:id="rId8"/>
    <p:sldId id="310" r:id="rId9"/>
    <p:sldId id="295" r:id="rId10"/>
    <p:sldId id="296" r:id="rId11"/>
    <p:sldId id="315" r:id="rId12"/>
    <p:sldId id="297" r:id="rId13"/>
    <p:sldId id="316" r:id="rId14"/>
    <p:sldId id="318" r:id="rId15"/>
    <p:sldId id="317" r:id="rId16"/>
    <p:sldId id="320" r:id="rId17"/>
    <p:sldId id="321" r:id="rId18"/>
    <p:sldId id="298" r:id="rId19"/>
    <p:sldId id="322" r:id="rId20"/>
    <p:sldId id="323" r:id="rId21"/>
    <p:sldId id="324" r:id="rId22"/>
    <p:sldId id="299" r:id="rId23"/>
    <p:sldId id="304" r:id="rId24"/>
    <p:sldId id="305" r:id="rId25"/>
    <p:sldId id="306" r:id="rId26"/>
    <p:sldId id="307" r:id="rId27"/>
    <p:sldId id="308" r:id="rId28"/>
    <p:sldId id="325" r:id="rId29"/>
    <p:sldId id="326" r:id="rId30"/>
    <p:sldId id="309"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47" autoAdjust="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A8B917BD-19E9-B98E-0CB5-69885C96905A}"/>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36D4EB9-01D1-17A9-0EF5-DE483C811D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3A222F8A-810F-0605-49E0-17BDEAD37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7113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58EBA179-FA28-E840-2CCE-C2557D33CF7D}"/>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B1136510-5491-DF4D-80C9-D8836B0FB7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D73F2F0-1B3B-C998-5083-0C52B2704B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342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51323A7A-BE72-C092-159C-65B7E542DFC8}"/>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F0F38A1-C252-A582-A7D8-B4741C49D7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02C0E44A-2349-2BEE-9CDC-24545D4D7B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0434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UzairJavaidRather/EduIntegrity-AI.gi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34022996"/>
              </p:ext>
            </p:extLst>
          </p:nvPr>
        </p:nvGraphicFramePr>
        <p:xfrm>
          <a:off x="1299257" y="3072809"/>
          <a:ext cx="9394989" cy="3678865"/>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10086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577998">
                <a:tc>
                  <a:txBody>
                    <a:bodyPr/>
                    <a:lstStyle/>
                    <a:p>
                      <a:pPr marL="0" marR="0" lvl="0" indent="0" algn="l" rtl="0">
                        <a:spcBef>
                          <a:spcPts val="0"/>
                        </a:spcBef>
                        <a:spcAft>
                          <a:spcPts val="0"/>
                        </a:spcAft>
                        <a:buNone/>
                      </a:pPr>
                      <a:r>
                        <a:rPr lang="en-US" sz="2400" b="1" dirty="0"/>
                        <a:t>Uzair Javaid Rather</a:t>
                      </a:r>
                    </a:p>
                    <a:p>
                      <a:pPr marL="0" marR="0" lvl="0" indent="0" algn="l" rtl="0">
                        <a:spcBef>
                          <a:spcPts val="0"/>
                        </a:spcBef>
                        <a:spcAft>
                          <a:spcPts val="0"/>
                        </a:spcAft>
                        <a:buNone/>
                      </a:pPr>
                      <a:endParaRPr lang="en-US" sz="2400" b="1" dirty="0"/>
                    </a:p>
                    <a:p>
                      <a:pPr marL="0" marR="0" lvl="0" indent="0" algn="l" rtl="0">
                        <a:spcBef>
                          <a:spcPts val="0"/>
                        </a:spcBef>
                        <a:spcAft>
                          <a:spcPts val="0"/>
                        </a:spcAft>
                        <a:buNone/>
                      </a:pPr>
                      <a:r>
                        <a:rPr lang="en-US" sz="1800" b="1" dirty="0"/>
                        <a:t>AICTE STUID:</a:t>
                      </a:r>
                    </a:p>
                    <a:p>
                      <a:pPr marL="0" marR="0" lvl="0" indent="0" algn="l" rtl="0">
                        <a:spcBef>
                          <a:spcPts val="0"/>
                        </a:spcBef>
                        <a:spcAft>
                          <a:spcPts val="0"/>
                        </a:spcAft>
                        <a:buNone/>
                      </a:pPr>
                      <a:endParaRPr lang="en-US" sz="1800" b="1" dirty="0"/>
                    </a:p>
                    <a:p>
                      <a:pPr marL="0" marR="0" lvl="0" indent="0" algn="l" rtl="0">
                        <a:spcBef>
                          <a:spcPts val="0"/>
                        </a:spcBef>
                        <a:spcAft>
                          <a:spcPts val="0"/>
                        </a:spcAft>
                        <a:buNone/>
                      </a:pPr>
                      <a:r>
                        <a:rPr lang="en-US" sz="1800" b="0" dirty="0"/>
                        <a:t>STU69f338bd4f21e1777547453</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400" b="1" dirty="0"/>
                        <a:t>ratheruzair83@gmail.com</a:t>
                      </a:r>
                      <a:endParaRPr sz="24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400" b="1" dirty="0"/>
                        <a:t>6005906613</a:t>
                      </a:r>
                      <a:endParaRPr sz="24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99257" y="2557374"/>
            <a:ext cx="10280254" cy="461665"/>
          </a:xfrm>
          <a:prstGeom prst="rect">
            <a:avLst/>
          </a:prstGeom>
          <a:noFill/>
        </p:spPr>
        <p:txBody>
          <a:bodyPr wrap="square" rtlCol="0">
            <a:spAutoFit/>
          </a:bodyPr>
          <a:lstStyle/>
          <a:p>
            <a:r>
              <a:rPr lang="en-US" sz="2400" b="1" u="sng" dirty="0"/>
              <a:t>Domain of  Project </a:t>
            </a:r>
            <a:r>
              <a:rPr lang="en-US" sz="2400" b="1" dirty="0"/>
              <a:t>–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471546"/>
            <a:ext cx="9581177" cy="1938992"/>
          </a:xfrm>
          <a:prstGeom prst="rect">
            <a:avLst/>
          </a:prstGeom>
          <a:noFill/>
        </p:spPr>
        <p:txBody>
          <a:bodyPr wrap="square" rtlCol="0">
            <a:spAutoFit/>
          </a:bodyPr>
          <a:lstStyle/>
          <a:p>
            <a:r>
              <a:rPr lang="en-US" sz="2400" b="1" u="sng" dirty="0"/>
              <a:t>Project Tile </a:t>
            </a:r>
            <a:r>
              <a:rPr lang="en-US" sz="2400" b="1" dirty="0"/>
              <a:t>– </a:t>
            </a:r>
            <a:r>
              <a:rPr lang="en-US" sz="2400" dirty="0" err="1">
                <a:highlight>
                  <a:srgbClr val="FFFF00"/>
                </a:highlight>
              </a:rPr>
              <a:t>EduIntegrity</a:t>
            </a:r>
            <a:r>
              <a:rPr lang="en-US" sz="2400" dirty="0">
                <a:highlight>
                  <a:srgbClr val="FFFF00"/>
                </a:highlight>
              </a:rPr>
              <a:t> AI </a:t>
            </a:r>
            <a:r>
              <a:rPr lang="en-US" sz="2400" dirty="0"/>
              <a:t>– Context-Aware AI-Driven Plagiarism Intelligence and Academic Integrity System</a:t>
            </a:r>
          </a:p>
          <a:p>
            <a:endParaRPr lang="en-US" sz="2400" dirty="0"/>
          </a:p>
          <a:p>
            <a:r>
              <a:rPr lang="en-US" sz="2400" b="1" dirty="0"/>
              <a:t>Problem Statement No.10 </a:t>
            </a:r>
            <a:r>
              <a:rPr lang="en-US" sz="2400" dirty="0"/>
              <a:t>– AI-Driven Plagiarism Intelligence for Assignments </a:t>
            </a:r>
            <a:endParaRPr lang="en-US" sz="2400" b="1" dirty="0">
              <a:highlight>
                <a:srgbClr val="FFFF00"/>
              </a:highlight>
            </a:endParaRPr>
          </a:p>
        </p:txBody>
      </p:sp>
      <p:pic>
        <p:nvPicPr>
          <p:cNvPr id="5" name="Picture 4">
            <a:extLst>
              <a:ext uri="{FF2B5EF4-FFF2-40B4-BE49-F238E27FC236}">
                <a16:creationId xmlns:a16="http://schemas.microsoft.com/office/drawing/2014/main" id="{0E850C67-8236-2BBF-5DF7-5EEA1AB1DD4A}"/>
              </a:ext>
            </a:extLst>
          </p:cNvPr>
          <p:cNvPicPr>
            <a:picLocks noChangeAspect="1"/>
          </p:cNvPicPr>
          <p:nvPr/>
        </p:nvPicPr>
        <p:blipFill>
          <a:blip r:embed="rId3"/>
          <a:stretch>
            <a:fillRect/>
          </a:stretch>
        </p:blipFill>
        <p:spPr>
          <a:xfrm>
            <a:off x="3561148" y="4317831"/>
            <a:ext cx="2002971" cy="226422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517469"/>
            <a:ext cx="10607040" cy="4893647"/>
          </a:xfrm>
          <a:prstGeom prst="rect">
            <a:avLst/>
          </a:prstGeom>
          <a:noFill/>
        </p:spPr>
        <p:txBody>
          <a:bodyPr wrap="square" rtlCol="0">
            <a:spAutoFit/>
          </a:bodyPr>
          <a:lstStyle/>
          <a:p>
            <a:pPr fontAlgn="base"/>
            <a:r>
              <a:rPr lang="en-US" sz="1800" b="1" dirty="0"/>
              <a:t>Problem Statement : </a:t>
            </a:r>
            <a:r>
              <a:rPr lang="en-US" sz="1800" dirty="0"/>
              <a:t>AI-Driven Plagiarism Intelligence for Assignments  </a:t>
            </a:r>
          </a:p>
          <a:p>
            <a:pPr fontAlgn="base"/>
            <a:endParaRPr lang="en-US" sz="1800" b="1" dirty="0"/>
          </a:p>
          <a:p>
            <a:pPr fontAlgn="base"/>
            <a:r>
              <a:rPr lang="en-US" sz="1800" b="1" dirty="0"/>
              <a:t>The Challenge</a:t>
            </a:r>
            <a:r>
              <a:rPr lang="en-US" sz="1800" dirty="0"/>
              <a:t> </a:t>
            </a:r>
          </a:p>
          <a:p>
            <a:pPr fontAlgn="base"/>
            <a:r>
              <a:rPr lang="en-US" sz="1800" dirty="0"/>
              <a:t>Academic integrity enforcement in educational institutions is often </a:t>
            </a:r>
            <a:r>
              <a:rPr lang="en-US" sz="1800" b="1" dirty="0"/>
              <a:t>manua</a:t>
            </a:r>
            <a:r>
              <a:rPr lang="en-US" sz="1800" dirty="0"/>
              <a:t>l, </a:t>
            </a:r>
            <a:r>
              <a:rPr lang="en-US" sz="1800" b="1" dirty="0"/>
              <a:t>inconsistent</a:t>
            </a:r>
            <a:r>
              <a:rPr lang="en-US" sz="1800" dirty="0"/>
              <a:t>, and </a:t>
            </a:r>
            <a:r>
              <a:rPr lang="en-US" sz="1800" b="1" dirty="0"/>
              <a:t>time-consuming</a:t>
            </a:r>
            <a:r>
              <a:rPr lang="en-US" sz="1800" dirty="0"/>
              <a:t>. Instructors struggle to efficiently detect suspicious similarities, unusual writing patterns, and possible AI-assisted submissions across large volumes of assignments. Existing approaches are often limited to </a:t>
            </a:r>
            <a:r>
              <a:rPr lang="en-US" sz="1800" b="1" dirty="0"/>
              <a:t>basic plagiarism </a:t>
            </a:r>
            <a:r>
              <a:rPr lang="en-US" sz="1800" dirty="0"/>
              <a:t>checks and do not provide explainable, evidence-based insights that help instructors make informed decisions. </a:t>
            </a:r>
          </a:p>
          <a:p>
            <a:pPr fontAlgn="base"/>
            <a:endParaRPr lang="en-US" sz="1800" dirty="0"/>
          </a:p>
          <a:p>
            <a:pPr fontAlgn="base"/>
            <a:r>
              <a:rPr lang="en-US" sz="1800" b="1" dirty="0"/>
              <a:t>The Objective</a:t>
            </a:r>
            <a:r>
              <a:rPr lang="en-US" sz="1800" dirty="0"/>
              <a:t> </a:t>
            </a:r>
          </a:p>
          <a:p>
            <a:pPr fontAlgn="base"/>
            <a:r>
              <a:rPr lang="en-US" sz="1800" dirty="0"/>
              <a:t> </a:t>
            </a:r>
          </a:p>
          <a:p>
            <a:pPr fontAlgn="base"/>
            <a:r>
              <a:rPr lang="en-US" sz="1800" dirty="0"/>
              <a:t>The objective of this problem statement is to highlight the need for an intelligent and reliable system that helps instructors detect potential academic integrity issues in student assignments more efficiently and accurately. It aims to define the core challenge, the limitations of current manual or basic automated methods, and the desired outcome of a transparent, evidence-based solution that supports fair academic review.</a:t>
            </a:r>
          </a:p>
          <a:p>
            <a:endParaRPr lang="en-IN" sz="18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369905"/>
            <a:ext cx="10607040" cy="5262979"/>
          </a:xfrm>
          <a:prstGeom prst="rect">
            <a:avLst/>
          </a:prstGeom>
          <a:noFill/>
        </p:spPr>
        <p:txBody>
          <a:bodyPr wrap="square" rtlCol="0">
            <a:spAutoFit/>
          </a:bodyPr>
          <a:lstStyle/>
          <a:p>
            <a:r>
              <a:rPr lang="en-US" b="1" dirty="0" err="1"/>
              <a:t>EduIntegrity</a:t>
            </a:r>
            <a:r>
              <a:rPr lang="en-US" b="1" dirty="0"/>
              <a:t> AI </a:t>
            </a:r>
            <a:r>
              <a:rPr lang="en-US" dirty="0"/>
              <a:t>will be developed as a web-based academic integrity analysis platform that helps instructors review student submissions using multiple </a:t>
            </a:r>
            <a:r>
              <a:rPr lang="en-US" b="1" dirty="0"/>
              <a:t>evidence-based indicators </a:t>
            </a:r>
            <a:r>
              <a:rPr lang="en-US" dirty="0"/>
              <a:t>instead of relying on a single plagiarism score. The system will process uploaded assignments, extract text, compare submissions against reference content, analyze writing patterns, and present a transparent risk report with explanations for each finding.</a:t>
            </a:r>
          </a:p>
          <a:p>
            <a:r>
              <a:rPr lang="en-US" dirty="0"/>
              <a:t> </a:t>
            </a:r>
          </a:p>
          <a:p>
            <a:r>
              <a:rPr lang="en-US" b="1" dirty="0"/>
              <a:t>Key Components -</a:t>
            </a:r>
          </a:p>
          <a:p>
            <a:r>
              <a:rPr lang="en-US" dirty="0"/>
              <a:t>- Document ingestion and text extraction for PDF, DOCX, and TXT files  </a:t>
            </a:r>
          </a:p>
          <a:p>
            <a:r>
              <a:rPr lang="en-US" dirty="0"/>
              <a:t>- Lexical similarity analysis using TF-IDF and cosine similarity  </a:t>
            </a:r>
          </a:p>
          <a:p>
            <a:r>
              <a:rPr lang="en-US" dirty="0"/>
              <a:t>- Semantic similarity analysis using sentence embeddings  </a:t>
            </a:r>
          </a:p>
          <a:p>
            <a:r>
              <a:rPr lang="en-US" dirty="0"/>
              <a:t>- Writing-style analysis based on measurable linguistic features  </a:t>
            </a:r>
          </a:p>
          <a:p>
            <a:r>
              <a:rPr lang="en-US" dirty="0"/>
              <a:t>- Historical anomaly detection using past student writing patterns  </a:t>
            </a:r>
          </a:p>
          <a:p>
            <a:r>
              <a:rPr lang="en-US" dirty="0"/>
              <a:t>- Citation anomaly detection and AI-authorship indicators  </a:t>
            </a:r>
          </a:p>
          <a:p>
            <a:r>
              <a:rPr lang="en-US" dirty="0"/>
              <a:t>- Risk score generation with weighted scoring across all dimensions  </a:t>
            </a:r>
          </a:p>
          <a:p>
            <a:r>
              <a:rPr lang="en-US" dirty="0"/>
              <a:t>- IBM Granite-powered explanation layer through watsonx.ai  </a:t>
            </a:r>
          </a:p>
          <a:p>
            <a:r>
              <a:rPr lang="en-US" dirty="0"/>
              <a:t>- Instructor dashboard for reviewing evidence and final judgment  </a:t>
            </a:r>
          </a:p>
          <a:p>
            <a:r>
              <a:rPr lang="en-US" dirty="0"/>
              <a:t> </a:t>
            </a:r>
          </a:p>
          <a:p>
            <a:r>
              <a:rPr lang="en-US" b="1" dirty="0"/>
              <a:t>Workflow -</a:t>
            </a:r>
          </a:p>
          <a:p>
            <a:r>
              <a:rPr lang="en-US" dirty="0"/>
              <a:t>1. Instructor uploads an assignment.  </a:t>
            </a:r>
          </a:p>
          <a:p>
            <a:r>
              <a:rPr lang="en-US" dirty="0"/>
              <a:t>2. The backend extracts and cleans the text.  </a:t>
            </a:r>
          </a:p>
          <a:p>
            <a:r>
              <a:rPr lang="en-US" dirty="0"/>
              <a:t>3. The system analyzes lexical, semantic, style, citation, and historical indicators.  </a:t>
            </a:r>
          </a:p>
          <a:p>
            <a:r>
              <a:rPr lang="en-US" dirty="0"/>
              <a:t>4. A weighted risk score is calculated.  </a:t>
            </a:r>
          </a:p>
          <a:p>
            <a:r>
              <a:rPr lang="en-US" dirty="0"/>
              <a:t>5. IBM Granite interprets the structured evidence and generates a natural-language explanation.  </a:t>
            </a:r>
          </a:p>
          <a:p>
            <a:r>
              <a:rPr lang="en-US" dirty="0"/>
              <a:t>6. The instructor reviews the evidence, score, and explanation before making the final academic decision.  </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584345"/>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234261"/>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868317"/>
            <a:ext cx="10515600" cy="5755422"/>
          </a:xfrm>
          <a:prstGeom prst="rect">
            <a:avLst/>
          </a:prstGeom>
          <a:noFill/>
        </p:spPr>
        <p:txBody>
          <a:bodyPr wrap="square" rtlCol="0">
            <a:spAutoFit/>
          </a:bodyPr>
          <a:lstStyle/>
          <a:p>
            <a:r>
              <a:rPr lang="en-IN" sz="1600" b="1" dirty="0" err="1"/>
              <a:t>EduIntegrity</a:t>
            </a:r>
            <a:r>
              <a:rPr lang="en-IN" sz="1600" b="1" dirty="0"/>
              <a:t> AI </a:t>
            </a:r>
            <a:r>
              <a:rPr lang="en-IN" sz="1600" dirty="0"/>
              <a:t>uses a combination of web, backend, AI, and analysis technologies to build the academic integrity platform.</a:t>
            </a:r>
          </a:p>
          <a:p>
            <a:endParaRPr lang="en-IN" sz="1600" dirty="0"/>
          </a:p>
          <a:p>
            <a:r>
              <a:rPr lang="en-IN" sz="1600" b="1" dirty="0"/>
              <a:t>Frontend-</a:t>
            </a:r>
            <a:r>
              <a:rPr lang="en-IN" sz="1600" dirty="0"/>
              <a:t> </a:t>
            </a:r>
          </a:p>
          <a:p>
            <a:pPr marL="285750" indent="-285750">
              <a:buFont typeface="Arial" panose="020B0604020202020204" pitchFamily="34" charset="0"/>
              <a:buChar char="•"/>
            </a:pPr>
            <a:r>
              <a:rPr lang="en-IN" sz="1600" dirty="0"/>
              <a:t>HTML</a:t>
            </a:r>
          </a:p>
          <a:p>
            <a:pPr marL="285750" indent="-285750">
              <a:buFont typeface="Arial" panose="020B0604020202020204" pitchFamily="34" charset="0"/>
              <a:buChar char="•"/>
            </a:pPr>
            <a:r>
              <a:rPr lang="en-IN" sz="1600" dirty="0"/>
              <a:t>CSS</a:t>
            </a:r>
          </a:p>
          <a:p>
            <a:pPr marL="285750" indent="-285750">
              <a:buFont typeface="Arial" panose="020B0604020202020204" pitchFamily="34" charset="0"/>
              <a:buChar char="•"/>
            </a:pPr>
            <a:r>
              <a:rPr lang="en-IN" sz="1600" dirty="0"/>
              <a:t>JavaScript</a:t>
            </a:r>
          </a:p>
          <a:p>
            <a:endParaRPr lang="en-IN" sz="1600" dirty="0"/>
          </a:p>
          <a:p>
            <a:r>
              <a:rPr lang="en-IN" sz="1600" b="1" dirty="0"/>
              <a:t>Backend-</a:t>
            </a:r>
            <a:r>
              <a:rPr lang="en-IN" sz="1600" dirty="0"/>
              <a:t> </a:t>
            </a:r>
          </a:p>
          <a:p>
            <a:pPr marL="285750" indent="-285750">
              <a:buFont typeface="Arial" panose="020B0604020202020204" pitchFamily="34" charset="0"/>
              <a:buChar char="•"/>
            </a:pPr>
            <a:r>
              <a:rPr lang="en-IN" sz="1600" dirty="0"/>
              <a:t>Python</a:t>
            </a:r>
          </a:p>
          <a:p>
            <a:pPr marL="285750" indent="-285750">
              <a:buFont typeface="Arial" panose="020B0604020202020204" pitchFamily="34" charset="0"/>
              <a:buChar char="•"/>
            </a:pPr>
            <a:r>
              <a:rPr lang="en-IN" sz="1600" dirty="0" err="1"/>
              <a:t>FastAPI</a:t>
            </a:r>
            <a:endParaRPr lang="en-IN" sz="1600" dirty="0"/>
          </a:p>
          <a:p>
            <a:endParaRPr lang="en-IN" sz="1600" dirty="0"/>
          </a:p>
          <a:p>
            <a:r>
              <a:rPr lang="en-IN" sz="1600" b="1" dirty="0"/>
              <a:t>AI and Analysis- </a:t>
            </a:r>
          </a:p>
          <a:p>
            <a:pPr marL="285750" indent="-285750">
              <a:buFont typeface="Arial" panose="020B0604020202020204" pitchFamily="34" charset="0"/>
              <a:buChar char="•"/>
            </a:pPr>
            <a:r>
              <a:rPr lang="en-IN" sz="1600" dirty="0"/>
              <a:t>IBM Granite</a:t>
            </a:r>
          </a:p>
          <a:p>
            <a:pPr marL="285750" indent="-285750">
              <a:buFont typeface="Arial" panose="020B0604020202020204" pitchFamily="34" charset="0"/>
              <a:buChar char="•"/>
            </a:pPr>
            <a:r>
              <a:rPr lang="en-IN" sz="1600" dirty="0"/>
              <a:t>IBM watsonx.ai</a:t>
            </a:r>
          </a:p>
          <a:p>
            <a:pPr marL="285750" indent="-285750">
              <a:buFont typeface="Arial" panose="020B0604020202020204" pitchFamily="34" charset="0"/>
              <a:buChar char="•"/>
            </a:pPr>
            <a:r>
              <a:rPr lang="en-IN" sz="1600" dirty="0"/>
              <a:t>scikit-learn</a:t>
            </a:r>
          </a:p>
          <a:p>
            <a:pPr marL="285750" indent="-285750">
              <a:buFont typeface="Arial" panose="020B0604020202020204" pitchFamily="34" charset="0"/>
              <a:buChar char="•"/>
            </a:pPr>
            <a:r>
              <a:rPr lang="en-IN" sz="1600" dirty="0"/>
              <a:t>sentence-transformers</a:t>
            </a:r>
          </a:p>
          <a:p>
            <a:pPr marL="285750" indent="-285750">
              <a:buFont typeface="Arial" panose="020B0604020202020204" pitchFamily="34" charset="0"/>
              <a:buChar char="•"/>
            </a:pPr>
            <a:r>
              <a:rPr lang="en-IN" sz="1600" dirty="0"/>
              <a:t>TF-IDF and cosine similarity techniques </a:t>
            </a:r>
          </a:p>
          <a:p>
            <a:endParaRPr lang="en-IN" sz="1600" dirty="0"/>
          </a:p>
          <a:p>
            <a:r>
              <a:rPr lang="en-IN" sz="1600" b="1" dirty="0"/>
              <a:t>Deployment and Support- </a:t>
            </a:r>
          </a:p>
          <a:p>
            <a:pPr marL="285750" indent="-285750">
              <a:buFont typeface="Arial" panose="020B0604020202020204" pitchFamily="34" charset="0"/>
              <a:buChar char="•"/>
            </a:pPr>
            <a:r>
              <a:rPr lang="en-IN" sz="1600" dirty="0"/>
              <a:t>Docker</a:t>
            </a:r>
          </a:p>
          <a:p>
            <a:pPr marL="285750" indent="-285750">
              <a:buFont typeface="Arial" panose="020B0604020202020204" pitchFamily="34" charset="0"/>
              <a:buChar char="•"/>
            </a:pPr>
            <a:r>
              <a:rPr lang="en-IN" sz="1600" dirty="0"/>
              <a:t>Docker Compose</a:t>
            </a:r>
          </a:p>
          <a:p>
            <a:pPr marL="285750" indent="-285750">
              <a:buFont typeface="Arial" panose="020B0604020202020204" pitchFamily="34" charset="0"/>
              <a:buChar char="•"/>
            </a:pPr>
            <a:r>
              <a:rPr lang="en-IN" sz="1600" dirty="0"/>
              <a:t>GitHub for version </a:t>
            </a:r>
            <a:r>
              <a:rPr lang="en-IN" sz="1600" dirty="0" err="1"/>
              <a:t>controI</a:t>
            </a:r>
            <a:endParaRPr lang="en-IN" sz="1600"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1A48C7CA-E6A6-7153-E853-4A7F34AE9A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7729A51-780D-5B2F-B64A-0B4E3E728128}"/>
              </a:ext>
            </a:extLst>
          </p:cNvPr>
          <p:cNvSpPr txBox="1"/>
          <p:nvPr/>
        </p:nvSpPr>
        <p:spPr>
          <a:xfrm>
            <a:off x="777240" y="234261"/>
            <a:ext cx="7123176" cy="461665"/>
          </a:xfrm>
          <a:prstGeom prst="rect">
            <a:avLst/>
          </a:prstGeom>
          <a:noFill/>
        </p:spPr>
        <p:txBody>
          <a:bodyPr wrap="square" lIns="91440" tIns="45720" rIns="91440" bIns="45720" rtlCol="0" anchor="t">
            <a:spAutoFit/>
          </a:bodyPr>
          <a:lstStyle/>
          <a:p>
            <a:r>
              <a:rPr lang="en-US" sz="2400" b="1" dirty="0"/>
              <a:t>Blueprint of the Project -</a:t>
            </a:r>
            <a:endParaRPr lang="en-IN" sz="2400" b="1" dirty="0"/>
          </a:p>
        </p:txBody>
      </p:sp>
      <p:pic>
        <p:nvPicPr>
          <p:cNvPr id="4" name="Picture 3">
            <a:extLst>
              <a:ext uri="{FF2B5EF4-FFF2-40B4-BE49-F238E27FC236}">
                <a16:creationId xmlns:a16="http://schemas.microsoft.com/office/drawing/2014/main" id="{85BFF733-6957-22C2-1537-A0AB76F09B89}"/>
              </a:ext>
            </a:extLst>
          </p:cNvPr>
          <p:cNvPicPr>
            <a:picLocks noChangeAspect="1"/>
          </p:cNvPicPr>
          <p:nvPr/>
        </p:nvPicPr>
        <p:blipFill>
          <a:blip r:embed="rId3"/>
          <a:stretch>
            <a:fillRect/>
          </a:stretch>
        </p:blipFill>
        <p:spPr>
          <a:xfrm>
            <a:off x="2568272" y="695926"/>
            <a:ext cx="7219784" cy="6162074"/>
          </a:xfrm>
          <a:prstGeom prst="rect">
            <a:avLst/>
          </a:prstGeom>
        </p:spPr>
      </p:pic>
    </p:spTree>
    <p:extLst>
      <p:ext uri="{BB962C8B-B14F-4D97-AF65-F5344CB8AC3E}">
        <p14:creationId xmlns:p14="http://schemas.microsoft.com/office/powerpoint/2010/main" val="2221856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2951C768-8C04-B69F-9FA7-8AA7E8AD42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E0A948-1168-6E44-41D8-FC147B25004C}"/>
              </a:ext>
            </a:extLst>
          </p:cNvPr>
          <p:cNvSpPr txBox="1"/>
          <p:nvPr/>
        </p:nvSpPr>
        <p:spPr>
          <a:xfrm>
            <a:off x="777240" y="234261"/>
            <a:ext cx="7123176" cy="461665"/>
          </a:xfrm>
          <a:prstGeom prst="rect">
            <a:avLst/>
          </a:prstGeom>
          <a:noFill/>
        </p:spPr>
        <p:txBody>
          <a:bodyPr wrap="square" lIns="91440" tIns="45720" rIns="91440" bIns="45720" rtlCol="0" anchor="t">
            <a:spAutoFit/>
          </a:bodyPr>
          <a:lstStyle/>
          <a:p>
            <a:r>
              <a:rPr lang="en-US" sz="2400" b="1" dirty="0"/>
              <a:t>Control Flow of the Project -</a:t>
            </a:r>
            <a:endParaRPr lang="en-IN" sz="2400" b="1" dirty="0"/>
          </a:p>
        </p:txBody>
      </p:sp>
      <p:pic>
        <p:nvPicPr>
          <p:cNvPr id="4" name="Picture 3">
            <a:extLst>
              <a:ext uri="{FF2B5EF4-FFF2-40B4-BE49-F238E27FC236}">
                <a16:creationId xmlns:a16="http://schemas.microsoft.com/office/drawing/2014/main" id="{8A3FEE73-AEEB-A171-12A7-91CBDE569665}"/>
              </a:ext>
            </a:extLst>
          </p:cNvPr>
          <p:cNvPicPr>
            <a:picLocks noChangeAspect="1"/>
          </p:cNvPicPr>
          <p:nvPr/>
        </p:nvPicPr>
        <p:blipFill>
          <a:blip r:embed="rId3"/>
          <a:stretch>
            <a:fillRect/>
          </a:stretch>
        </p:blipFill>
        <p:spPr>
          <a:xfrm>
            <a:off x="0" y="695926"/>
            <a:ext cx="4157331" cy="6162074"/>
          </a:xfrm>
          <a:prstGeom prst="rect">
            <a:avLst/>
          </a:prstGeom>
        </p:spPr>
      </p:pic>
      <p:pic>
        <p:nvPicPr>
          <p:cNvPr id="6" name="Picture 5">
            <a:extLst>
              <a:ext uri="{FF2B5EF4-FFF2-40B4-BE49-F238E27FC236}">
                <a16:creationId xmlns:a16="http://schemas.microsoft.com/office/drawing/2014/main" id="{6799D2AE-61C5-5B8B-4F71-5C8741C88201}"/>
              </a:ext>
            </a:extLst>
          </p:cNvPr>
          <p:cNvPicPr>
            <a:picLocks noChangeAspect="1"/>
          </p:cNvPicPr>
          <p:nvPr/>
        </p:nvPicPr>
        <p:blipFill>
          <a:blip r:embed="rId4"/>
          <a:stretch>
            <a:fillRect/>
          </a:stretch>
        </p:blipFill>
        <p:spPr>
          <a:xfrm>
            <a:off x="4008474" y="695924"/>
            <a:ext cx="4157332" cy="6162076"/>
          </a:xfrm>
          <a:prstGeom prst="rect">
            <a:avLst/>
          </a:prstGeom>
        </p:spPr>
      </p:pic>
      <p:pic>
        <p:nvPicPr>
          <p:cNvPr id="8" name="Picture 7">
            <a:extLst>
              <a:ext uri="{FF2B5EF4-FFF2-40B4-BE49-F238E27FC236}">
                <a16:creationId xmlns:a16="http://schemas.microsoft.com/office/drawing/2014/main" id="{866E7DFA-F7D8-80F0-4B32-5154248657CC}"/>
              </a:ext>
            </a:extLst>
          </p:cNvPr>
          <p:cNvPicPr>
            <a:picLocks noChangeAspect="1"/>
          </p:cNvPicPr>
          <p:nvPr/>
        </p:nvPicPr>
        <p:blipFill>
          <a:blip r:embed="rId5"/>
          <a:stretch>
            <a:fillRect/>
          </a:stretch>
        </p:blipFill>
        <p:spPr>
          <a:xfrm>
            <a:off x="8034671" y="695925"/>
            <a:ext cx="4157329" cy="6162076"/>
          </a:xfrm>
          <a:prstGeom prst="rect">
            <a:avLst/>
          </a:prstGeom>
        </p:spPr>
      </p:pic>
    </p:spTree>
    <p:extLst>
      <p:ext uri="{BB962C8B-B14F-4D97-AF65-F5344CB8AC3E}">
        <p14:creationId xmlns:p14="http://schemas.microsoft.com/office/powerpoint/2010/main" val="1674788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AEDADF12-EBF6-E282-A581-A0E8F2753B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FA0161-7BFD-571F-C293-C2A417D4C4E2}"/>
              </a:ext>
            </a:extLst>
          </p:cNvPr>
          <p:cNvSpPr txBox="1"/>
          <p:nvPr/>
        </p:nvSpPr>
        <p:spPr>
          <a:xfrm>
            <a:off x="777240" y="234261"/>
            <a:ext cx="7123176" cy="461665"/>
          </a:xfrm>
          <a:prstGeom prst="rect">
            <a:avLst/>
          </a:prstGeom>
          <a:noFill/>
        </p:spPr>
        <p:txBody>
          <a:bodyPr wrap="square" lIns="91440" tIns="45720" rIns="91440" bIns="45720" rtlCol="0" anchor="t">
            <a:spAutoFit/>
          </a:bodyPr>
          <a:lstStyle/>
          <a:p>
            <a:r>
              <a:rPr lang="en-US" sz="2400" b="1" dirty="0"/>
              <a:t>Control Flow of the Project -</a:t>
            </a:r>
            <a:endParaRPr lang="en-IN" sz="2400" b="1" dirty="0"/>
          </a:p>
        </p:txBody>
      </p:sp>
      <p:pic>
        <p:nvPicPr>
          <p:cNvPr id="5" name="Picture 4">
            <a:extLst>
              <a:ext uri="{FF2B5EF4-FFF2-40B4-BE49-F238E27FC236}">
                <a16:creationId xmlns:a16="http://schemas.microsoft.com/office/drawing/2014/main" id="{BD000130-E2CC-AECD-E215-09DD7E244825}"/>
              </a:ext>
            </a:extLst>
          </p:cNvPr>
          <p:cNvPicPr>
            <a:picLocks noChangeAspect="1"/>
          </p:cNvPicPr>
          <p:nvPr/>
        </p:nvPicPr>
        <p:blipFill>
          <a:blip r:embed="rId3"/>
          <a:stretch>
            <a:fillRect/>
          </a:stretch>
        </p:blipFill>
        <p:spPr>
          <a:xfrm>
            <a:off x="5133984" y="95693"/>
            <a:ext cx="3837892" cy="6762307"/>
          </a:xfrm>
          <a:prstGeom prst="rect">
            <a:avLst/>
          </a:prstGeom>
        </p:spPr>
      </p:pic>
    </p:spTree>
    <p:extLst>
      <p:ext uri="{BB962C8B-B14F-4D97-AF65-F5344CB8AC3E}">
        <p14:creationId xmlns:p14="http://schemas.microsoft.com/office/powerpoint/2010/main" val="408536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0"/>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F3FD6F9-BC5E-ABB4-B5F3-A894F45A66E1}"/>
              </a:ext>
            </a:extLst>
          </p:cNvPr>
          <p:cNvPicPr>
            <a:picLocks noChangeAspect="1"/>
          </p:cNvPicPr>
          <p:nvPr/>
        </p:nvPicPr>
        <p:blipFill>
          <a:blip r:embed="rId3"/>
          <a:stretch>
            <a:fillRect/>
          </a:stretch>
        </p:blipFill>
        <p:spPr>
          <a:xfrm>
            <a:off x="0" y="448509"/>
            <a:ext cx="12192000" cy="6409492"/>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2D3409C1-30FF-27EC-A8A0-D3F18EEF0824}"/>
              </a:ext>
            </a:extLst>
          </p:cNvPr>
          <p:cNvPicPr>
            <a:picLocks noChangeAspect="1"/>
          </p:cNvPicPr>
          <p:nvPr/>
        </p:nvPicPr>
        <p:blipFill>
          <a:blip r:embed="rId3"/>
          <a:stretch>
            <a:fillRect/>
          </a:stretch>
        </p:blipFill>
        <p:spPr>
          <a:xfrm>
            <a:off x="223284" y="935665"/>
            <a:ext cx="11695814" cy="5596926"/>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2C372-5DCD-2465-F42C-234A1F7A54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2123333-E815-0C06-86EA-CC92AFAF8753}"/>
              </a:ext>
            </a:extLst>
          </p:cNvPr>
          <p:cNvPicPr>
            <a:picLocks noChangeAspect="1"/>
          </p:cNvPicPr>
          <p:nvPr/>
        </p:nvPicPr>
        <p:blipFill>
          <a:blip r:embed="rId2"/>
          <a:stretch>
            <a:fillRect/>
          </a:stretch>
        </p:blipFill>
        <p:spPr>
          <a:xfrm>
            <a:off x="287078" y="315878"/>
            <a:ext cx="11621387" cy="6226243"/>
          </a:xfrm>
          <a:prstGeom prst="rect">
            <a:avLst/>
          </a:prstGeom>
        </p:spPr>
      </p:pic>
    </p:spTree>
    <p:extLst>
      <p:ext uri="{BB962C8B-B14F-4D97-AF65-F5344CB8AC3E}">
        <p14:creationId xmlns:p14="http://schemas.microsoft.com/office/powerpoint/2010/main" val="3127003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B8D94F-7B0A-22FB-561A-96DA74B6205A}"/>
              </a:ext>
            </a:extLst>
          </p:cNvPr>
          <p:cNvPicPr>
            <a:picLocks noChangeAspect="1"/>
          </p:cNvPicPr>
          <p:nvPr/>
        </p:nvPicPr>
        <p:blipFill>
          <a:blip r:embed="rId2"/>
          <a:stretch>
            <a:fillRect/>
          </a:stretch>
        </p:blipFill>
        <p:spPr>
          <a:xfrm>
            <a:off x="255181" y="287288"/>
            <a:ext cx="11674550" cy="6283423"/>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B06CE-1094-69B2-4087-504FBD76CEC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AA27F8-0BF3-6902-D3F0-229B878FB1FB}"/>
              </a:ext>
            </a:extLst>
          </p:cNvPr>
          <p:cNvPicPr>
            <a:picLocks noChangeAspect="1"/>
          </p:cNvPicPr>
          <p:nvPr/>
        </p:nvPicPr>
        <p:blipFill>
          <a:blip r:embed="rId2"/>
          <a:stretch>
            <a:fillRect/>
          </a:stretch>
        </p:blipFill>
        <p:spPr>
          <a:xfrm>
            <a:off x="340242" y="376235"/>
            <a:ext cx="11504428" cy="6105530"/>
          </a:xfrm>
          <a:prstGeom prst="rect">
            <a:avLst/>
          </a:prstGeom>
        </p:spPr>
      </p:pic>
    </p:spTree>
    <p:extLst>
      <p:ext uri="{BB962C8B-B14F-4D97-AF65-F5344CB8AC3E}">
        <p14:creationId xmlns:p14="http://schemas.microsoft.com/office/powerpoint/2010/main" val="968166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B966A-674B-3464-5FF0-328BF99448A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953EC45-4EF1-CC86-5366-D73BC43D1213}"/>
              </a:ext>
            </a:extLst>
          </p:cNvPr>
          <p:cNvPicPr>
            <a:picLocks noChangeAspect="1"/>
          </p:cNvPicPr>
          <p:nvPr/>
        </p:nvPicPr>
        <p:blipFill>
          <a:blip r:embed="rId2"/>
          <a:stretch>
            <a:fillRect/>
          </a:stretch>
        </p:blipFill>
        <p:spPr>
          <a:xfrm>
            <a:off x="297712" y="182459"/>
            <a:ext cx="11610753" cy="6493082"/>
          </a:xfrm>
          <a:prstGeom prst="rect">
            <a:avLst/>
          </a:prstGeom>
        </p:spPr>
      </p:pic>
    </p:spTree>
    <p:extLst>
      <p:ext uri="{BB962C8B-B14F-4D97-AF65-F5344CB8AC3E}">
        <p14:creationId xmlns:p14="http://schemas.microsoft.com/office/powerpoint/2010/main" val="3330800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0A5C-7F3F-551D-DF57-BD631ACF9B9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E5DF61-2515-3627-F924-973538F5113A}"/>
              </a:ext>
            </a:extLst>
          </p:cNvPr>
          <p:cNvPicPr>
            <a:picLocks noChangeAspect="1"/>
          </p:cNvPicPr>
          <p:nvPr/>
        </p:nvPicPr>
        <p:blipFill>
          <a:blip r:embed="rId2"/>
          <a:stretch>
            <a:fillRect/>
          </a:stretch>
        </p:blipFill>
        <p:spPr>
          <a:xfrm>
            <a:off x="287079" y="369882"/>
            <a:ext cx="11600122" cy="6118236"/>
          </a:xfrm>
          <a:prstGeom prst="rect">
            <a:avLst/>
          </a:prstGeom>
        </p:spPr>
      </p:pic>
    </p:spTree>
    <p:extLst>
      <p:ext uri="{BB962C8B-B14F-4D97-AF65-F5344CB8AC3E}">
        <p14:creationId xmlns:p14="http://schemas.microsoft.com/office/powerpoint/2010/main" val="3238636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DE356-F05A-BC2D-0169-E6613E4142D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886A3D9-4CAD-B1AA-A17A-714DA08C6D04}"/>
              </a:ext>
            </a:extLst>
          </p:cNvPr>
          <p:cNvPicPr>
            <a:picLocks noChangeAspect="1"/>
          </p:cNvPicPr>
          <p:nvPr/>
        </p:nvPicPr>
        <p:blipFill>
          <a:blip r:embed="rId2"/>
          <a:stretch>
            <a:fillRect/>
          </a:stretch>
        </p:blipFill>
        <p:spPr>
          <a:xfrm>
            <a:off x="531628" y="684370"/>
            <a:ext cx="11238614" cy="5489259"/>
          </a:xfrm>
          <a:prstGeom prst="rect">
            <a:avLst/>
          </a:prstGeom>
        </p:spPr>
      </p:pic>
    </p:spTree>
    <p:extLst>
      <p:ext uri="{BB962C8B-B14F-4D97-AF65-F5344CB8AC3E}">
        <p14:creationId xmlns:p14="http://schemas.microsoft.com/office/powerpoint/2010/main" val="633597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8F3AD-1E9A-E778-8B16-7DBDD58627F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53C82A7-4E1C-E7F2-480E-7AFB658D2A6D}"/>
              </a:ext>
            </a:extLst>
          </p:cNvPr>
          <p:cNvPicPr>
            <a:picLocks noChangeAspect="1"/>
          </p:cNvPicPr>
          <p:nvPr/>
        </p:nvPicPr>
        <p:blipFill>
          <a:blip r:embed="rId2"/>
          <a:stretch>
            <a:fillRect/>
          </a:stretch>
        </p:blipFill>
        <p:spPr>
          <a:xfrm>
            <a:off x="340242" y="809575"/>
            <a:ext cx="11483163" cy="5238850"/>
          </a:xfrm>
          <a:prstGeom prst="rect">
            <a:avLst/>
          </a:prstGeom>
        </p:spPr>
      </p:pic>
    </p:spTree>
    <p:extLst>
      <p:ext uri="{BB962C8B-B14F-4D97-AF65-F5344CB8AC3E}">
        <p14:creationId xmlns:p14="http://schemas.microsoft.com/office/powerpoint/2010/main" val="401112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Web App Interface built by IBM bob:</a:t>
            </a:r>
            <a:endParaRPr lang="en-US" sz="2400" dirty="0"/>
          </a:p>
        </p:txBody>
      </p:sp>
      <p:pic>
        <p:nvPicPr>
          <p:cNvPr id="4" name="Picture 3">
            <a:extLst>
              <a:ext uri="{FF2B5EF4-FFF2-40B4-BE49-F238E27FC236}">
                <a16:creationId xmlns:a16="http://schemas.microsoft.com/office/drawing/2014/main" id="{58A0A309-6ACE-C4C3-E18A-9ECCB7E60038}"/>
              </a:ext>
            </a:extLst>
          </p:cNvPr>
          <p:cNvPicPr>
            <a:picLocks noChangeAspect="1"/>
          </p:cNvPicPr>
          <p:nvPr/>
        </p:nvPicPr>
        <p:blipFill>
          <a:blip r:embed="rId3"/>
          <a:stretch>
            <a:fillRect/>
          </a:stretch>
        </p:blipFill>
        <p:spPr>
          <a:xfrm>
            <a:off x="340242" y="850605"/>
            <a:ext cx="11568223" cy="5443737"/>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86D37-4E67-B4E2-BFCC-FD45118D99C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1CD338C-0EEC-E300-4894-D5CC86B6E6DA}"/>
              </a:ext>
            </a:extLst>
          </p:cNvPr>
          <p:cNvPicPr>
            <a:picLocks noChangeAspect="1"/>
          </p:cNvPicPr>
          <p:nvPr/>
        </p:nvPicPr>
        <p:blipFill>
          <a:blip r:embed="rId2"/>
          <a:stretch>
            <a:fillRect/>
          </a:stretch>
        </p:blipFill>
        <p:spPr>
          <a:xfrm>
            <a:off x="393404" y="252345"/>
            <a:ext cx="11355573" cy="6353309"/>
          </a:xfrm>
          <a:prstGeom prst="rect">
            <a:avLst/>
          </a:prstGeom>
        </p:spPr>
      </p:pic>
    </p:spTree>
    <p:extLst>
      <p:ext uri="{BB962C8B-B14F-4D97-AF65-F5344CB8AC3E}">
        <p14:creationId xmlns:p14="http://schemas.microsoft.com/office/powerpoint/2010/main" val="2463096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2EE99-37D9-42D8-C7E2-9FCBE7D167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64B86ED-F6ED-2AEC-126E-37FE8D5E24E3}"/>
              </a:ext>
            </a:extLst>
          </p:cNvPr>
          <p:cNvPicPr>
            <a:picLocks noChangeAspect="1"/>
          </p:cNvPicPr>
          <p:nvPr/>
        </p:nvPicPr>
        <p:blipFill>
          <a:blip r:embed="rId2"/>
          <a:stretch>
            <a:fillRect/>
          </a:stretch>
        </p:blipFill>
        <p:spPr>
          <a:xfrm>
            <a:off x="446567" y="233285"/>
            <a:ext cx="11217350" cy="6391429"/>
          </a:xfrm>
          <a:prstGeom prst="rect">
            <a:avLst/>
          </a:prstGeom>
        </p:spPr>
      </p:pic>
    </p:spTree>
    <p:extLst>
      <p:ext uri="{BB962C8B-B14F-4D97-AF65-F5344CB8AC3E}">
        <p14:creationId xmlns:p14="http://schemas.microsoft.com/office/powerpoint/2010/main" val="1946141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1D50D-D332-8295-B98E-4A3B33F8C8D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D0D84EA-0BD6-48AE-1698-7BB485173462}"/>
              </a:ext>
            </a:extLst>
          </p:cNvPr>
          <p:cNvPicPr>
            <a:picLocks noChangeAspect="1"/>
          </p:cNvPicPr>
          <p:nvPr/>
        </p:nvPicPr>
        <p:blipFill>
          <a:blip r:embed="rId2"/>
          <a:stretch>
            <a:fillRect/>
          </a:stretch>
        </p:blipFill>
        <p:spPr>
          <a:xfrm>
            <a:off x="520994" y="1669312"/>
            <a:ext cx="11302411" cy="3976576"/>
          </a:xfrm>
          <a:prstGeom prst="rect">
            <a:avLst/>
          </a:prstGeom>
        </p:spPr>
      </p:pic>
    </p:spTree>
    <p:extLst>
      <p:ext uri="{BB962C8B-B14F-4D97-AF65-F5344CB8AC3E}">
        <p14:creationId xmlns:p14="http://schemas.microsoft.com/office/powerpoint/2010/main" val="1359274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478423"/>
          </a:xfrm>
          <a:prstGeom prst="rect">
            <a:avLst/>
          </a:prstGeom>
          <a:noFill/>
        </p:spPr>
        <p:txBody>
          <a:bodyPr wrap="square" rtlCol="0">
            <a:spAutoFit/>
          </a:bodyPr>
          <a:lstStyle/>
          <a:p>
            <a:r>
              <a:rPr lang="en-US" dirty="0"/>
              <a:t>The agentic agent in </a:t>
            </a:r>
            <a:r>
              <a:rPr lang="en-US" b="1" dirty="0" err="1"/>
              <a:t>EduIntegrity</a:t>
            </a:r>
            <a:r>
              <a:rPr lang="en-US" b="1" dirty="0"/>
              <a:t> AI </a:t>
            </a:r>
            <a:r>
              <a:rPr lang="en-US" dirty="0"/>
              <a:t>plays the role of an intelligent coordinator that manages the analysis workflow automatically.</a:t>
            </a:r>
          </a:p>
          <a:p>
            <a:r>
              <a:rPr lang="en-US" b="1" dirty="0"/>
              <a:t>Main Role- </a:t>
            </a:r>
          </a:p>
          <a:p>
            <a:r>
              <a:rPr lang="en-US" dirty="0"/>
              <a:t>It connects different modules such as:  </a:t>
            </a:r>
          </a:p>
          <a:p>
            <a:pPr marL="285750" indent="-285750">
              <a:buFont typeface="Arial" panose="020B0604020202020204" pitchFamily="34" charset="0"/>
              <a:buChar char="•"/>
            </a:pPr>
            <a:r>
              <a:rPr lang="en-US" dirty="0"/>
              <a:t>text extraction</a:t>
            </a:r>
          </a:p>
          <a:p>
            <a:pPr marL="285750" indent="-285750">
              <a:buFont typeface="Arial" panose="020B0604020202020204" pitchFamily="34" charset="0"/>
              <a:buChar char="•"/>
            </a:pPr>
            <a:r>
              <a:rPr lang="en-US" dirty="0"/>
              <a:t>lexical similarity analysis</a:t>
            </a:r>
          </a:p>
          <a:p>
            <a:pPr marL="285750" indent="-285750">
              <a:buFont typeface="Arial" panose="020B0604020202020204" pitchFamily="34" charset="0"/>
              <a:buChar char="•"/>
            </a:pPr>
            <a:r>
              <a:rPr lang="en-US" dirty="0"/>
              <a:t>semantic similarity analysis</a:t>
            </a:r>
          </a:p>
          <a:p>
            <a:pPr marL="285750" indent="-285750">
              <a:buFont typeface="Arial" panose="020B0604020202020204" pitchFamily="34" charset="0"/>
              <a:buChar char="•"/>
            </a:pPr>
            <a:r>
              <a:rPr lang="en-US" dirty="0"/>
              <a:t>writing-style analysis</a:t>
            </a:r>
          </a:p>
          <a:p>
            <a:pPr marL="285750" indent="-285750">
              <a:buFont typeface="Arial" panose="020B0604020202020204" pitchFamily="34" charset="0"/>
              <a:buChar char="•"/>
            </a:pPr>
            <a:r>
              <a:rPr lang="en-US" dirty="0"/>
              <a:t>historical anomaly detection</a:t>
            </a:r>
          </a:p>
          <a:p>
            <a:pPr marL="285750" indent="-285750">
              <a:buFont typeface="Arial" panose="020B0604020202020204" pitchFamily="34" charset="0"/>
              <a:buChar char="•"/>
            </a:pPr>
            <a:r>
              <a:rPr lang="en-US" dirty="0"/>
              <a:t>risk scoring</a:t>
            </a:r>
          </a:p>
          <a:p>
            <a:pPr marL="285750" indent="-285750">
              <a:buFont typeface="Arial" panose="020B0604020202020204" pitchFamily="34" charset="0"/>
              <a:buChar char="•"/>
            </a:pPr>
            <a:r>
              <a:rPr lang="en-US" dirty="0"/>
              <a:t>IBM Granite explanation generation</a:t>
            </a:r>
          </a:p>
          <a:p>
            <a:r>
              <a:rPr lang="en-US" b="1" dirty="0"/>
              <a:t>What It Does- </a:t>
            </a:r>
          </a:p>
          <a:p>
            <a:r>
              <a:rPr lang="en-US" dirty="0"/>
              <a:t>-     Receives the uploaded assignment</a:t>
            </a:r>
          </a:p>
          <a:p>
            <a:pPr marL="285750" indent="-285750">
              <a:buFontTx/>
              <a:buChar char="-"/>
            </a:pPr>
            <a:r>
              <a:rPr lang="en-US" dirty="0"/>
              <a:t>Triggers the required analysis steps in sequence</a:t>
            </a:r>
          </a:p>
          <a:p>
            <a:pPr marL="285750" indent="-285750">
              <a:buFontTx/>
              <a:buChar char="-"/>
            </a:pPr>
            <a:r>
              <a:rPr lang="en-US" dirty="0"/>
              <a:t>Collects results from each module</a:t>
            </a:r>
          </a:p>
          <a:p>
            <a:pPr marL="285750" indent="-285750">
              <a:buFontTx/>
              <a:buChar char="-"/>
            </a:pPr>
            <a:r>
              <a:rPr lang="en-US" dirty="0"/>
              <a:t>Combines them into a structured evidence package</a:t>
            </a:r>
          </a:p>
          <a:p>
            <a:pPr marL="285750" indent="-285750">
              <a:buFontTx/>
              <a:buChar char="-"/>
            </a:pPr>
            <a:r>
              <a:rPr lang="en-US" dirty="0"/>
              <a:t>Sends the final results to the instructor dashboard or AI reasoning layer</a:t>
            </a:r>
          </a:p>
          <a:p>
            <a:r>
              <a:rPr lang="en-US" b="1" dirty="0"/>
              <a:t>Why It Is Important- </a:t>
            </a:r>
          </a:p>
          <a:p>
            <a:r>
              <a:rPr lang="en-US" dirty="0"/>
              <a:t>Reduces manual effort- Makes the system more automated and efficient- Improves consistency in how analysis is performed- Helps generate explainable results instead of only raw scores</a:t>
            </a:r>
          </a:p>
          <a:p>
            <a:r>
              <a:rPr lang="en-US" b="1" dirty="0"/>
              <a:t>In This Project- </a:t>
            </a:r>
          </a:p>
          <a:p>
            <a:r>
              <a:rPr lang="en-US" dirty="0"/>
              <a:t>IBM Bob acted as the development agent during implementation- IBM Granite handled AI reasoning- IBM </a:t>
            </a:r>
            <a:r>
              <a:rPr lang="en-US" dirty="0" err="1"/>
              <a:t>watsonx</a:t>
            </a:r>
            <a:r>
              <a:rPr lang="en-US" dirty="0"/>
              <a:t> Orchestrate would be the agentic orchestration layer for coordinating multi-step analysis in a more advanced setup</a:t>
            </a:r>
          </a:p>
        </p:txBody>
      </p:sp>
    </p:spTree>
    <p:extLst>
      <p:ext uri="{BB962C8B-B14F-4D97-AF65-F5344CB8AC3E}">
        <p14:creationId xmlns:p14="http://schemas.microsoft.com/office/powerpoint/2010/main" val="4000696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324535"/>
          </a:xfrm>
          <a:prstGeom prst="rect">
            <a:avLst/>
          </a:prstGeom>
          <a:noFill/>
        </p:spPr>
        <p:txBody>
          <a:bodyPr wrap="square" rtlCol="0">
            <a:spAutoFit/>
          </a:bodyPr>
          <a:lstStyle/>
          <a:p>
            <a:r>
              <a:rPr lang="en-US" sz="2000" dirty="0"/>
              <a:t>The novelty of </a:t>
            </a:r>
            <a:r>
              <a:rPr lang="en-US" sz="2000" b="1" dirty="0" err="1"/>
              <a:t>EduIntegrity</a:t>
            </a:r>
            <a:r>
              <a:rPr lang="en-US" sz="2000" b="1" dirty="0"/>
              <a:t> AI </a:t>
            </a:r>
            <a:r>
              <a:rPr lang="en-US" sz="2000" dirty="0"/>
              <a:t>lies in its combination of multiple academic integrity analysis techniques in a single, explainable system. Unlike traditional plagiarism checkers that mainly focus on word overlap, this project evaluates submissions through several dimensions, including lexical similarity, semantic similarity, writing-style deviation, historical anomaly detection, citation irregularities, and AI-authorship indicators.</a:t>
            </a:r>
          </a:p>
          <a:p>
            <a:endParaRPr lang="en-US" sz="2000" dirty="0"/>
          </a:p>
          <a:p>
            <a:r>
              <a:rPr lang="en-US" sz="2000" b="1" dirty="0"/>
              <a:t>What Makes It Unique- </a:t>
            </a:r>
          </a:p>
          <a:p>
            <a:r>
              <a:rPr lang="en-US" sz="2000" dirty="0"/>
              <a:t>Multi-dimensional analysis instead of only text matching  - Explainable risk scoring with evidence-based reasoning  - Integration of IBM Granite for natural-language interpretation  - Focus on instructor decision support rather than automatic accusation  - A combined pipeline that brings AI, NLP, and academic review together in one platform.</a:t>
            </a:r>
          </a:p>
          <a:p>
            <a:endParaRPr lang="en-US" sz="2000" dirty="0"/>
          </a:p>
          <a:p>
            <a:r>
              <a:rPr lang="en-US" sz="2000" b="1" dirty="0"/>
              <a:t>Why It Is Valuable</a:t>
            </a:r>
          </a:p>
          <a:p>
            <a:r>
              <a:rPr lang="en-US" sz="2000" dirty="0"/>
              <a:t>This makes the project more practical and trustworthy for educational settings, because it helps instructors understand not just whether a submission is suspicious, but also why it appears suspicious and which indicators contributed to the risk </a:t>
            </a:r>
            <a:r>
              <a:rPr lang="en-US" sz="2000" dirty="0" err="1"/>
              <a:t>score.If</a:t>
            </a:r>
            <a:r>
              <a:rPr lang="en-US" sz="2000" dirty="0"/>
              <a:t> you want, I can also turn this into a short paragraph for your report or presentation.</a:t>
            </a:r>
            <a:endParaRPr lang="en-IN" sz="2000" dirty="0"/>
          </a:p>
        </p:txBody>
      </p:sp>
    </p:spTree>
    <p:extLst>
      <p:ext uri="{BB962C8B-B14F-4D97-AF65-F5344CB8AC3E}">
        <p14:creationId xmlns:p14="http://schemas.microsoft.com/office/powerpoint/2010/main" val="2325282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2800" dirty="0">
                <a:solidFill>
                  <a:srgbClr val="2B3541"/>
                </a:solidFill>
                <a:latin typeface="Times New Roman"/>
                <a:ea typeface="Times New Roman"/>
                <a:cs typeface="Times New Roman"/>
                <a:sym typeface="Times New Roman"/>
                <a:hlinkClick r:id="rId3"/>
              </a:rPr>
              <a:t>https://github.com/UzairJavaidRather/EduIntegrity-AI.git</a:t>
            </a:r>
            <a:endParaRPr lang="en-US" sz="280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280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2800" dirty="0">
                <a:solidFill>
                  <a:srgbClr val="2B3541"/>
                </a:solidFill>
                <a:latin typeface="Times New Roman"/>
                <a:ea typeface="Times New Roman"/>
                <a:cs typeface="Times New Roman"/>
                <a:sym typeface="Times New Roman"/>
              </a:rPr>
              <a:t>To Access the Repo :-     </a:t>
            </a:r>
            <a:r>
              <a:rPr lang="en-US" sz="2800" b="1" u="sng" dirty="0">
                <a:solidFill>
                  <a:srgbClr val="FF0000"/>
                </a:solidFill>
                <a:latin typeface="Times New Roman"/>
                <a:ea typeface="Times New Roman"/>
                <a:cs typeface="Times New Roman"/>
                <a:sym typeface="Times New Roman"/>
                <a:hlinkClick r:id="rId3"/>
              </a:rPr>
              <a:t>CLICK HERE</a:t>
            </a:r>
            <a:endParaRPr lang="en-US" sz="2800" b="1" u="sng" dirty="0">
              <a:solidFill>
                <a:srgbClr val="FF0000"/>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The future scope of </a:t>
            </a:r>
            <a:r>
              <a:rPr lang="en-US" sz="1850" b="1" dirty="0" err="1">
                <a:latin typeface="Times New Roman"/>
                <a:ea typeface="Times New Roman"/>
                <a:cs typeface="Times New Roman"/>
                <a:sym typeface="Times New Roman"/>
              </a:rPr>
              <a:t>EduIntegrity</a:t>
            </a:r>
            <a:r>
              <a:rPr lang="en-US" sz="1850" b="1" dirty="0">
                <a:latin typeface="Times New Roman"/>
                <a:ea typeface="Times New Roman"/>
                <a:cs typeface="Times New Roman"/>
                <a:sym typeface="Times New Roman"/>
              </a:rPr>
              <a:t> AI </a:t>
            </a:r>
            <a:r>
              <a:rPr lang="en-US" sz="1850" dirty="0">
                <a:latin typeface="Times New Roman"/>
                <a:ea typeface="Times New Roman"/>
                <a:cs typeface="Times New Roman"/>
                <a:sym typeface="Times New Roman"/>
              </a:rPr>
              <a:t>includes expanding the system from an MVP into a more advanced academic integrity platform. Some possible enhancements are:- </a:t>
            </a:r>
          </a:p>
          <a:p>
            <a:pPr marL="342900" lvl="0" indent="-342900">
              <a:lnSpc>
                <a:spcPct val="162162"/>
              </a:lnSpc>
              <a:buClr>
                <a:srgbClr val="2B3541"/>
              </a:buClr>
              <a:buSzPts val="1850"/>
              <a:buFont typeface="Arial" panose="020B0604020202020204" pitchFamily="34" charset="0"/>
              <a:buChar char="•"/>
            </a:pPr>
            <a:r>
              <a:rPr lang="en-US" sz="1850" dirty="0">
                <a:latin typeface="Times New Roman"/>
                <a:ea typeface="Times New Roman"/>
                <a:cs typeface="Times New Roman"/>
                <a:sym typeface="Times New Roman"/>
              </a:rPr>
              <a:t>Integration with a database for storing student history and past submissions</a:t>
            </a:r>
          </a:p>
          <a:p>
            <a:pPr marL="342900" lvl="0" indent="-342900">
              <a:lnSpc>
                <a:spcPct val="162162"/>
              </a:lnSpc>
              <a:buClr>
                <a:srgbClr val="2B3541"/>
              </a:buClr>
              <a:buSzPts val="1850"/>
              <a:buFont typeface="Arial" panose="020B0604020202020204" pitchFamily="34" charset="0"/>
              <a:buChar char="•"/>
            </a:pPr>
            <a:r>
              <a:rPr lang="en-US" sz="1850" dirty="0">
                <a:latin typeface="Times New Roman"/>
                <a:ea typeface="Times New Roman"/>
                <a:cs typeface="Times New Roman"/>
                <a:sym typeface="Times New Roman"/>
              </a:rPr>
              <a:t>Authentication and role-based access for instructors, administrators, and students</a:t>
            </a:r>
          </a:p>
          <a:p>
            <a:pPr marL="342900" lvl="0" indent="-342900">
              <a:lnSpc>
                <a:spcPct val="162162"/>
              </a:lnSpc>
              <a:buClr>
                <a:srgbClr val="2B3541"/>
              </a:buClr>
              <a:buSzPts val="1850"/>
              <a:buFont typeface="Arial" panose="020B0604020202020204" pitchFamily="34" charset="0"/>
              <a:buChar char="•"/>
            </a:pPr>
            <a:r>
              <a:rPr lang="en-US" sz="1850" dirty="0">
                <a:latin typeface="Times New Roman"/>
                <a:ea typeface="Times New Roman"/>
                <a:cs typeface="Times New Roman"/>
                <a:sym typeface="Times New Roman"/>
              </a:rPr>
              <a:t>Support for larger datasets and batch processing of multiple assignments</a:t>
            </a:r>
          </a:p>
          <a:p>
            <a:pPr marL="342900" lvl="0" indent="-342900">
              <a:lnSpc>
                <a:spcPct val="162162"/>
              </a:lnSpc>
              <a:buClr>
                <a:srgbClr val="2B3541"/>
              </a:buClr>
              <a:buSzPts val="1850"/>
              <a:buFont typeface="Arial" panose="020B0604020202020204" pitchFamily="34" charset="0"/>
              <a:buChar char="•"/>
            </a:pPr>
            <a:r>
              <a:rPr lang="en-US" sz="1850" dirty="0">
                <a:latin typeface="Times New Roman"/>
                <a:ea typeface="Times New Roman"/>
                <a:cs typeface="Times New Roman"/>
                <a:sym typeface="Times New Roman"/>
              </a:rPr>
              <a:t>Advanced retrieval-augmented analysis using vector databases</a:t>
            </a:r>
          </a:p>
          <a:p>
            <a:pPr marL="342900" lvl="0" indent="-342900">
              <a:lnSpc>
                <a:spcPct val="162162"/>
              </a:lnSpc>
              <a:buClr>
                <a:srgbClr val="2B3541"/>
              </a:buClr>
              <a:buSzPts val="1850"/>
              <a:buFont typeface="Arial" panose="020B0604020202020204" pitchFamily="34" charset="0"/>
              <a:buChar char="•"/>
            </a:pPr>
            <a:r>
              <a:rPr lang="en-US" sz="1850" dirty="0">
                <a:latin typeface="Times New Roman"/>
                <a:ea typeface="Times New Roman"/>
                <a:cs typeface="Times New Roman"/>
                <a:sym typeface="Times New Roman"/>
              </a:rPr>
              <a:t>Improved AI-authorship detection with more reliable academic indicators</a:t>
            </a:r>
          </a:p>
          <a:p>
            <a:pPr marL="342900" lvl="0" indent="-342900">
              <a:lnSpc>
                <a:spcPct val="162162"/>
              </a:lnSpc>
              <a:buClr>
                <a:srgbClr val="2B3541"/>
              </a:buClr>
              <a:buSzPts val="1850"/>
              <a:buFont typeface="Arial" panose="020B0604020202020204" pitchFamily="34" charset="0"/>
              <a:buChar char="•"/>
            </a:pPr>
            <a:r>
              <a:rPr lang="en-US" sz="1850" dirty="0">
                <a:latin typeface="Times New Roman"/>
                <a:ea typeface="Times New Roman"/>
                <a:cs typeface="Times New Roman"/>
                <a:sym typeface="Times New Roman"/>
              </a:rPr>
              <a:t>Integration with learning management systems such as LMS platforms</a:t>
            </a:r>
          </a:p>
          <a:p>
            <a:pPr marL="342900" lvl="0" indent="-342900">
              <a:lnSpc>
                <a:spcPct val="162162"/>
              </a:lnSpc>
              <a:buClr>
                <a:srgbClr val="2B3541"/>
              </a:buClr>
              <a:buSzPts val="1850"/>
              <a:buFont typeface="Arial" panose="020B0604020202020204" pitchFamily="34" charset="0"/>
              <a:buChar char="•"/>
            </a:pPr>
            <a:r>
              <a:rPr lang="en-US" sz="1850" dirty="0">
                <a:latin typeface="Times New Roman"/>
                <a:ea typeface="Times New Roman"/>
                <a:cs typeface="Times New Roman"/>
                <a:sym typeface="Times New Roman"/>
              </a:rPr>
              <a:t>Automated reporting, dashboards, and exportable review summaries</a:t>
            </a:r>
          </a:p>
          <a:p>
            <a:pPr marL="342900" lvl="0" indent="-342900">
              <a:lnSpc>
                <a:spcPct val="162162"/>
              </a:lnSpc>
              <a:buClr>
                <a:srgbClr val="2B3541"/>
              </a:buClr>
              <a:buSzPts val="1850"/>
              <a:buFont typeface="Arial" panose="020B0604020202020204" pitchFamily="34" charset="0"/>
              <a:buChar char="•"/>
            </a:pPr>
            <a:r>
              <a:rPr lang="en-US" sz="1850" dirty="0">
                <a:latin typeface="Times New Roman"/>
                <a:ea typeface="Times New Roman"/>
                <a:cs typeface="Times New Roman"/>
                <a:sym typeface="Times New Roman"/>
              </a:rPr>
              <a:t>Deployment on cloud platforms for scalable real-world use  </a:t>
            </a:r>
          </a:p>
          <a:p>
            <a:pPr lvl="0">
              <a:lnSpc>
                <a:spcPct val="162162"/>
              </a:lnSpc>
              <a:buClr>
                <a:srgbClr val="2B3541"/>
              </a:buClr>
              <a:buSzPts val="1850"/>
            </a:pPr>
            <a:r>
              <a:rPr lang="en-US" sz="1850" dirty="0">
                <a:latin typeface="Times New Roman"/>
                <a:ea typeface="Times New Roman"/>
                <a:cs typeface="Times New Roman"/>
                <a:sym typeface="Times New Roman"/>
              </a:rPr>
              <a:t>These improvements would make the system more efficient, scalable, and suitable for institutional adoption.</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(Getting Started with Artificial Intelligence)  </a:t>
            </a:r>
          </a:p>
        </p:txBody>
      </p:sp>
      <p:pic>
        <p:nvPicPr>
          <p:cNvPr id="4" name="Picture 3">
            <a:extLst>
              <a:ext uri="{FF2B5EF4-FFF2-40B4-BE49-F238E27FC236}">
                <a16:creationId xmlns:a16="http://schemas.microsoft.com/office/drawing/2014/main" id="{60B159FC-9A22-E7EB-4C8D-25E2C6F495C3}"/>
              </a:ext>
            </a:extLst>
          </p:cNvPr>
          <p:cNvPicPr>
            <a:picLocks noChangeAspect="1"/>
          </p:cNvPicPr>
          <p:nvPr/>
        </p:nvPicPr>
        <p:blipFill>
          <a:blip r:embed="rId2"/>
          <a:stretch>
            <a:fillRect/>
          </a:stretch>
        </p:blipFill>
        <p:spPr>
          <a:xfrm>
            <a:off x="1084521" y="1151726"/>
            <a:ext cx="9867013" cy="5706274"/>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AD418197-05A1-B7D7-8359-13BB883DC54C}"/>
              </a:ext>
            </a:extLst>
          </p:cNvPr>
          <p:cNvPicPr>
            <a:picLocks noChangeAspect="1"/>
          </p:cNvPicPr>
          <p:nvPr/>
        </p:nvPicPr>
        <p:blipFill>
          <a:blip r:embed="rId2"/>
          <a:stretch>
            <a:fillRect/>
          </a:stretch>
        </p:blipFill>
        <p:spPr>
          <a:xfrm>
            <a:off x="602646" y="1200580"/>
            <a:ext cx="10986707" cy="5431029"/>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00C58-ED4E-F20B-70EF-D59825D3812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378042-EE32-2DB6-FEBA-7F116788FFB5}"/>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4C28E127-0A6B-D70F-BB31-218FA69311CE}"/>
              </a:ext>
            </a:extLst>
          </p:cNvPr>
          <p:cNvPicPr>
            <a:picLocks noChangeAspect="1"/>
          </p:cNvPicPr>
          <p:nvPr/>
        </p:nvPicPr>
        <p:blipFill>
          <a:blip r:embed="rId2"/>
          <a:stretch>
            <a:fillRect/>
          </a:stretch>
        </p:blipFill>
        <p:spPr>
          <a:xfrm>
            <a:off x="556161" y="744278"/>
            <a:ext cx="11079678" cy="5887331"/>
          </a:xfrm>
          <a:prstGeom prst="rect">
            <a:avLst/>
          </a:prstGeom>
        </p:spPr>
      </p:pic>
    </p:spTree>
    <p:extLst>
      <p:ext uri="{BB962C8B-B14F-4D97-AF65-F5344CB8AC3E}">
        <p14:creationId xmlns:p14="http://schemas.microsoft.com/office/powerpoint/2010/main" val="3479405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E5BCA-5FE4-5029-D187-5E1A932716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5E6C55-1B61-BE9F-745C-5C6A3DD56118}"/>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BD8BE1CE-1DDB-0F1A-A739-064D39B00468}"/>
              </a:ext>
            </a:extLst>
          </p:cNvPr>
          <p:cNvPicPr>
            <a:picLocks noChangeAspect="1"/>
          </p:cNvPicPr>
          <p:nvPr/>
        </p:nvPicPr>
        <p:blipFill>
          <a:blip r:embed="rId2"/>
          <a:stretch>
            <a:fillRect/>
          </a:stretch>
        </p:blipFill>
        <p:spPr>
          <a:xfrm>
            <a:off x="528917" y="776176"/>
            <a:ext cx="11134165" cy="5855433"/>
          </a:xfrm>
          <a:prstGeom prst="rect">
            <a:avLst/>
          </a:prstGeom>
        </p:spPr>
      </p:pic>
    </p:spTree>
    <p:extLst>
      <p:ext uri="{BB962C8B-B14F-4D97-AF65-F5344CB8AC3E}">
        <p14:creationId xmlns:p14="http://schemas.microsoft.com/office/powerpoint/2010/main" val="2948584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1056</Words>
  <Application>Microsoft Office PowerPoint</Application>
  <PresentationFormat>Widescreen</PresentationFormat>
  <Paragraphs>134</Paragraphs>
  <Slides>30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Uzair Javaid Rather</cp:lastModifiedBy>
  <cp:revision>6</cp:revision>
  <dcterms:created xsi:type="dcterms:W3CDTF">2025-07-08T05:06:56Z</dcterms:created>
  <dcterms:modified xsi:type="dcterms:W3CDTF">2026-09-11T16:39:31Z</dcterms:modified>
</cp:coreProperties>
</file>